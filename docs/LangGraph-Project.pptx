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02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4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News-Verification Agent  </a:t>
            </a:r>
            <a:r>
              <a:rPr lang="en-US" sz="2500" i="1" dirty="0">
                <a:solidFill>
                  <a:srgbClr val="BC5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the pipeline, end to 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news through two lenses  ·  surface what they dispute  ·  fact-check each claim with its own agent  ·  escalate only the uncertain</a:t>
            </a:r>
            <a:endParaRPr lang="en-US" sz="1150" dirty="0"/>
          </a:p>
        </p:txBody>
      </p:sp>
      <p:sp>
        <p:nvSpPr>
          <p:cNvPr id="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" y="1060704"/>
            <a:ext cx="5650992" cy="0"/>
          </a:xfrm>
          <a:prstGeom prst="line">
            <a:avLst/>
          </a:prstGeom>
          <a:noFill/>
          <a:ln w="20320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opi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1225296"/>
            <a:ext cx="2286000" cy="402336"/>
          </a:xfrm>
          <a:prstGeom prst="ellipse">
            <a:avLst/>
          </a:prstGeom>
          <a:solidFill>
            <a:srgbClr val="E8CDBB"/>
          </a:solidFill>
          <a:ln w="15875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188720" y="12252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 </a:t>
            </a:r>
            <a:r>
              <a:rPr lang="en-US" sz="800">
                <a:solidFill>
                  <a:srgbClr val="5E4F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(“Inflation")</a:t>
            </a:r>
            <a:endParaRPr lang="en-US" sz="1150" dirty="0"/>
          </a:p>
        </p:txBody>
      </p:sp>
      <p:sp>
        <p:nvSpPr>
          <p:cNvPr id="7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1627632"/>
            <a:ext cx="0" cy="219456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263140" y="1792224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1847088"/>
            <a:ext cx="2286000" cy="402336"/>
          </a:xfrm>
          <a:prstGeom prst="rect">
            <a:avLst/>
          </a:prstGeom>
          <a:solidFill>
            <a:srgbClr val="FBF7EC"/>
          </a:solidFill>
          <a:ln w="1587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188720" y="184708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articles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news search  ·  Tavily</a:t>
            </a:r>
            <a:endParaRPr lang="en-US" sz="950" dirty="0"/>
          </a:p>
        </p:txBody>
      </p:sp>
      <p:sp>
        <p:nvSpPr>
          <p:cNvPr id="12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2249424"/>
            <a:ext cx="0" cy="18288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7360" y="2432304"/>
            <a:ext cx="1207008" cy="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7360" y="2432304"/>
            <a:ext cx="0" cy="109728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668780" y="2487168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44368" y="2432304"/>
            <a:ext cx="0" cy="109728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875788" y="2487168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1188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articles to both — nothing is split</a:t>
            </a:r>
            <a:endParaRPr lang="en-US" sz="850" dirty="0"/>
          </a:p>
        </p:txBody>
      </p:sp>
      <p:sp>
        <p:nvSpPr>
          <p:cNvPr id="19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2395728"/>
            <a:ext cx="2359152" cy="877824"/>
          </a:xfrm>
          <a:prstGeom prst="rect">
            <a:avLst/>
          </a:prstGeom>
          <a:solidFill>
            <a:srgbClr val="EBE2CE"/>
          </a:solidFill>
          <a:ln w="12700">
            <a:solidFill>
              <a:srgbClr val="5E4F3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298448" y="2322576"/>
            <a:ext cx="1371600" cy="164592"/>
          </a:xfrm>
          <a:prstGeom prst="rect">
            <a:avLst/>
          </a:prstGeom>
          <a:solidFill>
            <a:srgbClr val="F3ECD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C5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 subgraph  ×2</a:t>
            </a:r>
            <a:endParaRPr lang="en-US" sz="750" dirty="0"/>
          </a:p>
        </p:txBody>
      </p:sp>
      <p:sp>
        <p:nvSpPr>
          <p:cNvPr id="21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57300" y="2542032"/>
            <a:ext cx="960120" cy="566928"/>
          </a:xfrm>
          <a:prstGeom prst="rect">
            <a:avLst/>
          </a:prstGeom>
          <a:solidFill>
            <a:srgbClr val="FBF7EC"/>
          </a:solidFill>
          <a:ln w="1587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1257300" y="25420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optimistic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1150" dirty="0"/>
          </a:p>
        </p:txBody>
      </p:sp>
      <p:sp>
        <p:nvSpPr>
          <p:cNvPr id="23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64308" y="2542032"/>
            <a:ext cx="960120" cy="566928"/>
          </a:xfrm>
          <a:prstGeom prst="rect">
            <a:avLst/>
          </a:prstGeom>
          <a:solidFill>
            <a:srgbClr val="FBF7EC"/>
          </a:solidFill>
          <a:ln w="1587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2464308" y="254203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skeptical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1150" dirty="0"/>
          </a:p>
        </p:txBody>
      </p:sp>
      <p:sp>
        <p:nvSpPr>
          <p:cNvPr id="2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7360" y="3108960"/>
            <a:ext cx="0" cy="9144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44368" y="3108960"/>
            <a:ext cx="0" cy="9144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37360" y="3200400"/>
            <a:ext cx="1207008" cy="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3200400"/>
            <a:ext cx="0" cy="146304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263140" y="3291840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3378508"/>
            <a:ext cx="2286000" cy="402336"/>
          </a:xfrm>
          <a:prstGeom prst="rect">
            <a:avLst/>
          </a:prstGeom>
          <a:solidFill>
            <a:srgbClr val="FBF7EC"/>
          </a:solidFill>
          <a:ln w="1587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1188720" y="33467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39312" y="33284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the two readings </a:t>
            </a:r>
            <a:endParaRPr lang="en-US" sz="9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disagree about?  →  N contested claims</a:t>
            </a:r>
            <a:endParaRPr lang="en-US" sz="900" dirty="0"/>
          </a:p>
        </p:txBody>
      </p:sp>
      <p:sp>
        <p:nvSpPr>
          <p:cNvPr id="3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3764942"/>
            <a:ext cx="0" cy="292608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263140" y="3962931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3639312" y="38953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C5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— one per claim, N at runtime</a:t>
            </a:r>
            <a:endParaRPr lang="en-US" sz="850" dirty="0"/>
          </a:p>
        </p:txBody>
      </p:sp>
      <p:sp>
        <p:nvSpPr>
          <p:cNvPr id="36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5024" y="4187952"/>
            <a:ext cx="2286000" cy="603504"/>
          </a:xfrm>
          <a:prstGeom prst="rect">
            <a:avLst/>
          </a:prstGeom>
          <a:solidFill>
            <a:srgbClr val="EBE2CE"/>
          </a:solidFill>
          <a:ln w="12700">
            <a:solidFill>
              <a:srgbClr val="5E4F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1872" y="4114800"/>
            <a:ext cx="2286000" cy="603504"/>
          </a:xfrm>
          <a:prstGeom prst="rect">
            <a:avLst/>
          </a:prstGeom>
          <a:solidFill>
            <a:srgbClr val="EBE2CE"/>
          </a:solidFill>
          <a:ln w="12700">
            <a:solidFill>
              <a:srgbClr val="5E4F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4041648"/>
            <a:ext cx="2286000" cy="603504"/>
          </a:xfrm>
          <a:prstGeom prst="rect">
            <a:avLst/>
          </a:prstGeom>
          <a:solidFill>
            <a:srgbClr val="FBF7EC"/>
          </a:solidFill>
          <a:ln w="1587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118872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claim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evidence  ·  own search budget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578608" y="3941064"/>
            <a:ext cx="822960" cy="164592"/>
          </a:xfrm>
          <a:prstGeom prst="rect">
            <a:avLst/>
          </a:prstGeom>
          <a:solidFill>
            <a:srgbClr val="EBE2C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C5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×N</a:t>
            </a:r>
            <a:endParaRPr lang="en-US" sz="750" dirty="0"/>
          </a:p>
        </p:txBody>
      </p:sp>
      <p:sp>
        <p:nvSpPr>
          <p:cNvPr id="41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4791456"/>
            <a:ext cx="0" cy="164592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263140" y="4885282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4956048"/>
            <a:ext cx="2286000" cy="402336"/>
          </a:xfrm>
          <a:prstGeom prst="rect">
            <a:avLst/>
          </a:prstGeom>
          <a:solidFill>
            <a:srgbClr val="FBF7EC"/>
          </a:solidFill>
          <a:ln w="1587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1188720" y="49560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639312" y="4974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every verdict + confidence</a:t>
            </a:r>
            <a:endParaRPr lang="en-US" sz="950" dirty="0"/>
          </a:p>
        </p:txBody>
      </p:sp>
      <p:sp>
        <p:nvSpPr>
          <p:cNvPr id="46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5358384"/>
            <a:ext cx="0" cy="146304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263140" y="5449824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decis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5577838"/>
            <a:ext cx="2286000" cy="640081"/>
          </a:xfrm>
          <a:prstGeom prst="diamond">
            <a:avLst/>
          </a:prstGeom>
          <a:solidFill>
            <a:srgbClr val="E8CDBB"/>
          </a:solidFill>
          <a:ln w="15875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1188720" y="550468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claim below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 confidence?</a:t>
            </a:r>
            <a:endParaRPr lang="en-US" sz="850" dirty="0"/>
          </a:p>
        </p:txBody>
      </p:sp>
      <p:sp>
        <p:nvSpPr>
          <p:cNvPr id="5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31720" y="6217920"/>
            <a:ext cx="0" cy="9144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263140" y="6254496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2404872" y="62270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900" dirty="0"/>
          </a:p>
        </p:txBody>
      </p:sp>
      <p:sp>
        <p:nvSpPr>
          <p:cNvPr id="53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8720" y="6323536"/>
            <a:ext cx="2286000" cy="438912"/>
          </a:xfrm>
          <a:prstGeom prst="rect">
            <a:avLst/>
          </a:prstGeom>
          <a:solidFill>
            <a:srgbClr val="FBF7EC"/>
          </a:solidFill>
          <a:ln w="1587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1188720" y="6309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finalize report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verdicts + provenance annotations</a:t>
            </a:r>
            <a:endParaRPr lang="en-US" sz="1150" dirty="0"/>
          </a:p>
        </p:txBody>
      </p:sp>
      <p:sp>
        <p:nvSpPr>
          <p:cNvPr id="55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1357" y="5751576"/>
            <a:ext cx="320040" cy="0"/>
          </a:xfrm>
          <a:prstGeom prst="line">
            <a:avLst/>
          </a:prstGeom>
          <a:noFill/>
          <a:ln w="17780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670523" y="5696712"/>
            <a:ext cx="137160" cy="109728"/>
          </a:xfrm>
          <a:prstGeom prst="triangle">
            <a:avLst/>
          </a:prstGeom>
          <a:solidFill>
            <a:srgbClr val="BC573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3493008" y="55321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BC5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endParaRPr lang="en-US" sz="900" dirty="0"/>
          </a:p>
        </p:txBody>
      </p:sp>
      <p:sp>
        <p:nvSpPr>
          <p:cNvPr id="58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60" y="5431536"/>
            <a:ext cx="2286000" cy="640080"/>
          </a:xfrm>
          <a:prstGeom prst="rect">
            <a:avLst/>
          </a:prstGeom>
          <a:solidFill>
            <a:srgbClr val="FBF7EC"/>
          </a:solidFill>
          <a:ln w="15875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9" name="Text 57"/>
          <p:cNvSpPr/>
          <p:nvPr/>
        </p:nvSpPr>
        <p:spPr>
          <a:xfrm>
            <a:off x="3794760" y="543153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BC5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review</a:t>
            </a:r>
            <a:endParaRPr lang="en-US" sz="110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770" i="1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pauses  </a:t>
            </a:r>
            <a:r>
              <a:rPr lang="en-US" sz="77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only low-confidence claims · approve or override</a:t>
            </a:r>
            <a:endParaRPr lang="en-US" sz="1100" dirty="0"/>
          </a:p>
        </p:txBody>
      </p:sp>
      <p:sp>
        <p:nvSpPr>
          <p:cNvPr id="6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6071616"/>
            <a:ext cx="0" cy="45720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4720" y="6542992"/>
            <a:ext cx="1463040" cy="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414091" y="6488128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3612896" y="2807207"/>
            <a:ext cx="2852928" cy="18286"/>
          </a:xfrm>
          <a:prstGeom prst="line">
            <a:avLst/>
          </a:prstGeom>
          <a:noFill/>
          <a:ln w="31750">
            <a:solidFill>
              <a:schemeClr val="accent2">
                <a:lumMod val="75000"/>
              </a:schemeClr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6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3216" y="4343400"/>
            <a:ext cx="2816352" cy="0"/>
          </a:xfrm>
          <a:prstGeom prst="line">
            <a:avLst/>
          </a:prstGeom>
          <a:noFill/>
          <a:ln w="31750">
            <a:solidFill>
              <a:schemeClr val="accent2">
                <a:lumMod val="75000"/>
              </a:schemeClr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65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1170432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ECE3CF"/>
          </a:solidFill>
          <a:ln w="12700">
            <a:solidFill>
              <a:srgbClr val="5E4F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1170432"/>
            <a:ext cx="82296" cy="2194560"/>
          </a:xfrm>
          <a:prstGeom prst="rect">
            <a:avLst/>
          </a:prstGeom>
          <a:solidFill>
            <a:srgbClr val="BC573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7" name="Text 65"/>
          <p:cNvSpPr/>
          <p:nvPr/>
        </p:nvSpPr>
        <p:spPr>
          <a:xfrm>
            <a:off x="6647688" y="1261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5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a reading — one subgraph, two lenses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647688" y="157276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24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articles reach both readers — only the one-sentence lens differs. Written once, run twice, in parallel.</a:t>
            </a:r>
            <a:endParaRPr lang="en-US" sz="950" dirty="0"/>
          </a:p>
        </p:txBody>
      </p:sp>
      <p:sp>
        <p:nvSpPr>
          <p:cNvPr id="69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1993392"/>
            <a:ext cx="1554480" cy="457200"/>
          </a:xfrm>
          <a:prstGeom prst="rect">
            <a:avLst/>
          </a:prstGeom>
          <a:solidFill>
            <a:srgbClr val="FBF7EC"/>
          </a:solidFill>
          <a:ln w="1397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8"/>
          <p:cNvSpPr/>
          <p:nvPr/>
        </p:nvSpPr>
        <p:spPr>
          <a:xfrm>
            <a:off x="6766560" y="1993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gather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7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 articles · no LLM</a:t>
            </a:r>
            <a:endParaRPr lang="en-US" sz="1050" dirty="0"/>
          </a:p>
        </p:txBody>
      </p:sp>
      <p:sp>
        <p:nvSpPr>
          <p:cNvPr id="71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1040" y="2221992"/>
            <a:ext cx="502920" cy="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2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723576" y="2167128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3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0" y="1993392"/>
            <a:ext cx="1737360" cy="457200"/>
          </a:xfrm>
          <a:prstGeom prst="rect">
            <a:avLst/>
          </a:prstGeom>
          <a:solidFill>
            <a:srgbClr val="FBF7EC"/>
          </a:solidFill>
          <a:ln w="1397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Text 72"/>
          <p:cNvSpPr/>
          <p:nvPr/>
        </p:nvSpPr>
        <p:spPr>
          <a:xfrm>
            <a:off x="8823960" y="1993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77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via the lens · Claude Haiku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0671048" y="19933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compiled once · invoked twice</a:t>
            </a:r>
            <a:endParaRPr lang="en-US" sz="800" dirty="0"/>
          </a:p>
        </p:txBody>
      </p:sp>
      <p:sp>
        <p:nvSpPr>
          <p:cNvPr id="76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2651760"/>
            <a:ext cx="4690872" cy="292608"/>
          </a:xfrm>
          <a:prstGeom prst="roundRect">
            <a:avLst>
              <a:gd name="adj" fmla="val 12500"/>
            </a:avLst>
          </a:prstGeom>
          <a:solidFill>
            <a:srgbClr val="FBF7EC"/>
          </a:solidFill>
          <a:ln w="12700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7" name="Text 75"/>
          <p:cNvSpPr/>
          <p:nvPr/>
        </p:nvSpPr>
        <p:spPr>
          <a:xfrm>
            <a:off x="6903720" y="26517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5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 A  </a:t>
            </a:r>
            <a:r>
              <a:rPr lang="en-US" sz="900" dirty="0">
                <a:solidFill>
                  <a:srgbClr val="24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optimistic economist  →  perspective_a</a:t>
            </a:r>
            <a:endParaRPr lang="en-US" sz="900" dirty="0"/>
          </a:p>
        </p:txBody>
      </p:sp>
      <p:sp>
        <p:nvSpPr>
          <p:cNvPr id="78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0" y="3017520"/>
            <a:ext cx="4690872" cy="292608"/>
          </a:xfrm>
          <a:prstGeom prst="roundRect">
            <a:avLst>
              <a:gd name="adj" fmla="val 12500"/>
            </a:avLst>
          </a:prstGeom>
          <a:solidFill>
            <a:srgbClr val="FBF7EC"/>
          </a:solidFill>
          <a:ln w="12700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9" name="Text 77"/>
          <p:cNvSpPr/>
          <p:nvPr/>
        </p:nvSpPr>
        <p:spPr>
          <a:xfrm>
            <a:off x="6903720" y="30175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5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lens B  </a:t>
            </a:r>
            <a:r>
              <a:rPr lang="en-US" sz="900" dirty="0">
                <a:solidFill>
                  <a:srgbClr val="24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cautious skeptic  →  perspective_b</a:t>
            </a:r>
            <a:endParaRPr lang="en-US" sz="900" dirty="0"/>
          </a:p>
        </p:txBody>
      </p:sp>
      <p:sp>
        <p:nvSpPr>
          <p:cNvPr id="80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3570224"/>
            <a:ext cx="5349240" cy="2944368"/>
          </a:xfrm>
          <a:prstGeom prst="roundRect">
            <a:avLst>
              <a:gd name="adj" fmla="val 1863"/>
            </a:avLst>
          </a:prstGeom>
          <a:solidFill>
            <a:srgbClr val="ECE3CF"/>
          </a:solidFill>
          <a:ln w="12700">
            <a:solidFill>
              <a:srgbClr val="5E4F3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46520" y="3570224"/>
            <a:ext cx="82296" cy="2944368"/>
          </a:xfrm>
          <a:prstGeom prst="rect">
            <a:avLst/>
          </a:prstGeom>
          <a:solidFill>
            <a:srgbClr val="BC573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2" name="Text 80"/>
          <p:cNvSpPr/>
          <p:nvPr/>
        </p:nvSpPr>
        <p:spPr>
          <a:xfrm>
            <a:off x="6647688" y="362102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5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a verifier — an agent's think–act loop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6647688" y="3931920"/>
            <a:ext cx="4965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24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independent agent per contested claim. It decides whether it has enough, searches if not, and loops — until it concludes or hits its search cap.</a:t>
            </a:r>
            <a:endParaRPr lang="en-US" sz="950" dirty="0"/>
          </a:p>
        </p:txBody>
      </p:sp>
      <p:sp>
        <p:nvSpPr>
          <p:cNvPr id="84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4581144"/>
            <a:ext cx="2057400" cy="566928"/>
          </a:xfrm>
          <a:prstGeom prst="rect">
            <a:avLst/>
          </a:prstGeom>
          <a:solidFill>
            <a:srgbClr val="FBF7EC"/>
          </a:solidFill>
          <a:ln w="1460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5" name="Text 83"/>
          <p:cNvSpPr/>
          <p:nvPr/>
        </p:nvSpPr>
        <p:spPr>
          <a:xfrm>
            <a:off x="6949440" y="458114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decide: search or conclude</a:t>
            </a:r>
            <a:endParaRPr lang="en-US" sz="1050" dirty="0"/>
          </a:p>
        </p:txBody>
      </p:sp>
      <p:sp>
        <p:nvSpPr>
          <p:cNvPr id="86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0" y="5632704"/>
            <a:ext cx="2057400" cy="566928"/>
          </a:xfrm>
          <a:prstGeom prst="rect">
            <a:avLst/>
          </a:prstGeom>
          <a:solidFill>
            <a:srgbClr val="FBF7EC"/>
          </a:solidFill>
          <a:ln w="14605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7" name="Text 85"/>
          <p:cNvSpPr/>
          <p:nvPr/>
        </p:nvSpPr>
        <p:spPr>
          <a:xfrm>
            <a:off x="6949440" y="563270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 +  OBSERVE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the web · add to evidence</a:t>
            </a:r>
            <a:endParaRPr lang="en-US" sz="950" dirty="0"/>
          </a:p>
        </p:txBody>
      </p:sp>
      <p:sp>
        <p:nvSpPr>
          <p:cNvPr id="88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41080" y="5148072"/>
            <a:ext cx="0" cy="484632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9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572500" y="5577840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0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5148072"/>
            <a:ext cx="0" cy="484632"/>
          </a:xfrm>
          <a:prstGeom prst="line">
            <a:avLst/>
          </a:prstGeom>
          <a:noFill/>
          <a:ln w="20320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1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46620" y="5093208"/>
            <a:ext cx="137160" cy="109728"/>
          </a:xfrm>
          <a:prstGeom prst="triangle">
            <a:avLst/>
          </a:prstGeom>
          <a:solidFill>
            <a:srgbClr val="BC573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2" name="Text 90"/>
          <p:cNvSpPr/>
          <p:nvPr/>
        </p:nvSpPr>
        <p:spPr>
          <a:xfrm>
            <a:off x="7452360" y="52898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C57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9052560" y="52075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82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cap:</a:t>
            </a:r>
            <a:endParaRPr lang="en-US" sz="82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82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searches</a:t>
            </a:r>
            <a:endParaRPr lang="en-US" sz="820" dirty="0"/>
          </a:p>
        </p:txBody>
      </p:sp>
      <p:sp>
        <p:nvSpPr>
          <p:cNvPr id="94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06840" y="4882896"/>
            <a:ext cx="1051560" cy="0"/>
          </a:xfrm>
          <a:prstGeom prst="line">
            <a:avLst/>
          </a:prstGeom>
          <a:noFill/>
          <a:ln w="17780">
            <a:solidFill>
              <a:srgbClr val="241F1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5" name="arrow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50065" y="4828032"/>
            <a:ext cx="137160" cy="109728"/>
          </a:xfrm>
          <a:prstGeom prst="triangle">
            <a:avLst/>
          </a:prstGeom>
          <a:solidFill>
            <a:srgbClr val="241F1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6" name="Text 94"/>
          <p:cNvSpPr/>
          <p:nvPr/>
        </p:nvSpPr>
        <p:spPr>
          <a:xfrm>
            <a:off x="9025128" y="43068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76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enough /</a:t>
            </a:r>
            <a:endParaRPr lang="en-US" sz="760" dirty="0"/>
          </a:p>
          <a:p>
            <a:pPr marL="0" indent="0" algn="ctr">
              <a:lnSpc>
                <a:spcPct val="85000"/>
              </a:lnSpc>
              <a:buNone/>
            </a:pPr>
            <a:r>
              <a:rPr lang="en-US" sz="76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reached</a:t>
            </a:r>
            <a:endParaRPr lang="en-US" sz="760" dirty="0"/>
          </a:p>
        </p:txBody>
      </p:sp>
      <p:sp>
        <p:nvSpPr>
          <p:cNvPr id="97" name="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0" y="4599432"/>
            <a:ext cx="1600200" cy="566928"/>
          </a:xfrm>
          <a:prstGeom prst="rect">
            <a:avLst/>
          </a:prstGeom>
          <a:solidFill>
            <a:srgbClr val="E8CDBB"/>
          </a:solidFill>
          <a:ln w="15240">
            <a:solidFill>
              <a:srgbClr val="BC57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8" name="Text 96"/>
          <p:cNvSpPr/>
          <p:nvPr/>
        </p:nvSpPr>
        <p:spPr>
          <a:xfrm>
            <a:off x="10058400" y="45994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24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CONCLUDE</a:t>
            </a:r>
            <a:endParaRPr lang="en-US" sz="1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 + confidence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647688" y="615987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900" i="1" dirty="0">
                <a:solidFill>
                  <a:srgbClr val="5E4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agent keeps its own evidence pile and its own budget of three searches — claims never contaminate each other.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Krueger, Linda</dc:creator>
  <cp:lastModifiedBy>Linda Krueger</cp:lastModifiedBy>
  <cp:revision>4</cp:revision>
  <dcterms:created xsi:type="dcterms:W3CDTF">2026-07-29T11:43:40Z</dcterms:created>
  <dcterms:modified xsi:type="dcterms:W3CDTF">2026-07-29T12:41:19Z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0e7f903-1de7-4802-b372-71d725d6e445_Enabled">
    <vt:lpwstr>true</vt:lpwstr>
  </property>
  <property fmtid="{D5CDD505-2E9C-101B-9397-08002B2CF9AE}" pid="3" name="MSIP_Label_00e7f903-1de7-4802-b372-71d725d6e445_SetDate">
    <vt:lpwstr>2026-07-29T12:20:10Z</vt:lpwstr>
  </property>
  <property fmtid="{D5CDD505-2E9C-101B-9397-08002B2CF9AE}" pid="4" name="MSIP_Label_00e7f903-1de7-4802-b372-71d725d6e445_Method">
    <vt:lpwstr>Standard</vt:lpwstr>
  </property>
  <property fmtid="{D5CDD505-2E9C-101B-9397-08002B2CF9AE}" pid="5" name="MSIP_Label_00e7f903-1de7-4802-b372-71d725d6e445_Name">
    <vt:lpwstr>New Confidential</vt:lpwstr>
  </property>
  <property fmtid="{D5CDD505-2E9C-101B-9397-08002B2CF9AE}" pid="6" name="MSIP_Label_00e7f903-1de7-4802-b372-71d725d6e445_SiteId">
    <vt:lpwstr>d584a4b7-b1f2-4714-a578-fd4d43c146a6</vt:lpwstr>
  </property>
  <property fmtid="{D5CDD505-2E9C-101B-9397-08002B2CF9AE}" pid="7" name="MSIP_Label_00e7f903-1de7-4802-b372-71d725d6e445_ActionId">
    <vt:lpwstr>58cb98eb-7de1-4d84-9688-470b1831b3b3</vt:lpwstr>
  </property>
  <property fmtid="{D5CDD505-2E9C-101B-9397-08002B2CF9AE}" pid="8" name="MSIP_Label_00e7f903-1de7-4802-b372-71d725d6e445_ContentBits">
    <vt:lpwstr>2</vt:lpwstr>
  </property>
  <property fmtid="{D5CDD505-2E9C-101B-9397-08002B2CF9AE}" pid="9" name="MSIP_Label_00e7f903-1de7-4802-b372-71d725d6e445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Baker Hughes Confidential</vt:lpwstr>
  </property>
</Properties>
</file>